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live demo before you start talking. Everything they will see tonight is running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beats. Do not rush the second one — the loss of social scripts is the real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thesis. Pause after 'permission'.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character in the frame: that is a person who is actually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references out loud — Mario Party and Jackbox do the explaining for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4,471 is the number to land. Registry data, not procedural filler.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product depth: the catalog exists and is already rigged in the deployed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Adjacent markets prove each half of the behavior separately. Rando is the combination.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foot traffic is the product venues buy. Cosmetics only after density.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honesty block yourself, do not let them find it. Density problem, not demand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quadrant is empty for a structural reason: live plus in-the-room needs density 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the whole conversation. Phases 2 and 3 are the same playbook, copied.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and product, one each. The demo is live right now — offer to open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number on the slide — anchor on the milestone, name the amount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the demo open on screen while they ask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2000"/>
          </a:blip>
          <a:srcRect l="0" r="0" t="0" b="0"/>
          <a:stretch/>
        </p:blipFill>
        <p:spPr>
          <a:xfrm>
            <a:off x="0" y="0"/>
            <a:ext cx="18287959" cy="1028697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0D1220">
                  <a:alpha val="35000"/>
                </a:srgbClr>
              </a:gs>
              <a:gs pos="58000">
                <a:srgbClr val="0D1220">
                  <a:alpha val="82000"/>
                </a:srgbClr>
              </a:gs>
              <a:gs pos="100000">
                <a:srgbClr val="0D1220">
                  <a:alpha val="97000"/>
                </a:srgbClr>
              </a:gs>
            </a:gsLst>
            <a:lin ang="51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990562" y="4362492"/>
            <a:ext cx="1793752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F5B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PRE-SEED · 2026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2" y="4905664"/>
            <a:ext cx="17937520" cy="1958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313"/>
              </a:lnSpc>
              <a:buNone/>
            </a:pPr>
            <a:r>
              <a:rPr lang="en-US" sz="16800" b="1" spc="-672" kern="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</a:t>
            </a:r>
            <a:endParaRPr lang="en-US" sz="16800" dirty="0"/>
          </a:p>
        </p:txBody>
      </p:sp>
      <p:sp>
        <p:nvSpPr>
          <p:cNvPr id="6" name="Text 3"/>
          <p:cNvSpPr/>
          <p:nvPr/>
        </p:nvSpPr>
        <p:spPr>
          <a:xfrm>
            <a:off x="990562" y="7092480"/>
            <a:ext cx="11576683" cy="110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66"/>
              </a:lnSpc>
              <a:buNone/>
            </a:pPr>
            <a:r>
              <a:rPr lang="en-US" sz="31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people around you </a:t>
            </a:r>
            <a:pPr algn="l" indent="0" marL="0">
              <a:lnSpc>
                <a:spcPct val="112466"/>
              </a:lnSpc>
              <a:buNone/>
            </a:pPr>
            <a:r>
              <a:rPr lang="en-US" sz="3150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live social layer over the real city.</a:t>
            </a:r>
            <a:endParaRPr lang="en-US" sz="3150" dirty="0"/>
          </a:p>
        </p:txBody>
      </p:sp>
      <p:sp>
        <p:nvSpPr>
          <p:cNvPr id="7" name="Shape 4"/>
          <p:cNvSpPr/>
          <p:nvPr/>
        </p:nvSpPr>
        <p:spPr>
          <a:xfrm>
            <a:off x="990562" y="8538312"/>
            <a:ext cx="7892022" cy="605668"/>
          </a:xfrm>
          <a:prstGeom prst="roundRect">
            <a:avLst>
              <a:gd name="adj" fmla="val 3145"/>
            </a:avLst>
          </a:prstGeom>
          <a:solidFill>
            <a:srgbClr val="7FD4C1">
              <a:alpha val="12000"/>
            </a:srgbClr>
          </a:solidFill>
          <a:ln w="8695">
            <a:solidFill>
              <a:srgbClr val="7FD4C1">
                <a:alpha val="4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46795" y="8783948"/>
            <a:ext cx="114259" cy="114259"/>
          </a:xfrm>
          <a:prstGeom prst="ellipse">
            <a:avLst/>
          </a:prstGeom>
          <a:solidFill>
            <a:srgbClr val="7FD4C1"/>
          </a:solidFill>
          <a:ln/>
        </p:spPr>
      </p:sp>
      <p:sp>
        <p:nvSpPr>
          <p:cNvPr id="9" name="Text 6"/>
          <p:cNvSpPr/>
          <p:nvPr/>
        </p:nvSpPr>
        <p:spPr>
          <a:xfrm>
            <a:off x="1494334" y="8680286"/>
            <a:ext cx="7845217" cy="359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— randoirl.vercel.app · Itaewon, Seoul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990562" y="9496131"/>
            <a:ext cx="796612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visual in this deck is the running product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62" y="838126"/>
            <a:ext cx="1793752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62" y="1457515"/>
            <a:ext cx="14716022" cy="1601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61"/>
              </a:lnSpc>
              <a:buNone/>
            </a:pPr>
            <a:r>
              <a:rPr lang="en-US" sz="5700" b="1" spc="-125" kern="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promised connection. It delivered scrolling.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90562" y="3954324"/>
            <a:ext cx="990544" cy="1223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B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2323900" y="5131193"/>
            <a:ext cx="14973498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323900" y="3954230"/>
            <a:ext cx="13931257" cy="8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0"/>
              </a:lnSpc>
              <a:buNone/>
            </a:pPr>
            <a:r>
              <a:rPr lang="en-US" sz="2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surrounded by people and talk to none of them. </a:t>
            </a:r>
            <a:pPr algn="l" indent="0" marL="0">
              <a:lnSpc>
                <a:spcPct val="122690"/>
              </a:lnSpc>
              <a:buNone/>
            </a:pPr>
            <a:r>
              <a:rPr lang="en-US" sz="2400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bar, a full café, a full street — everyone on their phone, including you.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90562" y="5463738"/>
            <a:ext cx="990544" cy="1223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B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2323900" y="6640607"/>
            <a:ext cx="14973498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323900" y="5463644"/>
            <a:ext cx="13931257" cy="8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0"/>
              </a:lnSpc>
              <a:buNone/>
            </a:pPr>
            <a:r>
              <a:rPr lang="en-US" sz="2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someone new in real life has become genuinely rare. </a:t>
            </a:r>
            <a:pPr algn="l" indent="0" marL="0">
              <a:lnSpc>
                <a:spcPct val="122690"/>
              </a:lnSpc>
              <a:buNone/>
            </a:pPr>
            <a:r>
              <a:rPr lang="en-US" sz="2400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because people stopped wanting it — third places lost their social scripts, and cold-approaching a stranger now reads as strange.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90562" y="6973152"/>
            <a:ext cx="990544" cy="1214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B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323900" y="6973059"/>
            <a:ext cx="13931257" cy="8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0"/>
              </a:lnSpc>
              <a:buNone/>
            </a:pPr>
            <a:r>
              <a:rPr lang="en-US" sz="2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easy way exists to turn "we're in the same place" into a conversation. </a:t>
            </a:r>
            <a:pPr algn="l" indent="0" marL="0">
              <a:lnSpc>
                <a:spcPct val="122690"/>
              </a:lnSpc>
              <a:buNone/>
            </a:pPr>
            <a:r>
              <a:rPr lang="en-US" sz="2400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Dating apps skip the room you're standing in. Social media shows you people you'll never stand near.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0562" y="9610390"/>
            <a:ext cx="92207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58968" y="9610390"/>
            <a:ext cx="414629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62" y="2248633"/>
            <a:ext cx="1793752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62" y="2925220"/>
            <a:ext cx="15304735" cy="2019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418"/>
              </a:lnSpc>
              <a:buNone/>
            </a:pPr>
            <a:r>
              <a:rPr lang="en-US" sz="7500" b="1" spc="-225" kern="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was never a lack of people. It's a lack of permission.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90562" y="5401556"/>
            <a:ext cx="13538734" cy="1504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925"/>
              </a:lnSpc>
              <a:buNone/>
            </a:pPr>
            <a:r>
              <a:rPr lang="en-US" sz="2550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crowded district already has the supply — hundreds of people within a five-minute walk who would say yes to a conversation. What's missing is a socially acceptable </a:t>
            </a:r>
            <a:pPr algn="l" indent="0" marL="0">
              <a:lnSpc>
                <a:spcPct val="129925"/>
              </a:lnSpc>
              <a:buNone/>
            </a:pPr>
            <a:r>
              <a:rPr lang="en-US" sz="2550" i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</a:t>
            </a:r>
            <a:pPr algn="l" indent="0" marL="0">
              <a:lnSpc>
                <a:spcPct val="129925"/>
              </a:lnSpc>
              <a:buNone/>
            </a:pPr>
            <a:r>
              <a:rPr lang="en-US" sz="2550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start one. Give two strangers a shared context and the approach stops being weird.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90562" y="7401156"/>
            <a:ext cx="14668367" cy="598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22"/>
              </a:lnSpc>
              <a:buNone/>
            </a:pPr>
            <a:r>
              <a:rPr lang="en-US" sz="3450" b="1" dirty="0">
                <a:solidFill>
                  <a:srgbClr val="F5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 manufactures that context, on location, in real time.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990562" y="9610390"/>
            <a:ext cx="92207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58968" y="9610390"/>
            <a:ext cx="414629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62" y="838126"/>
            <a:ext cx="1793752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62" y="1419474"/>
            <a:ext cx="17937520" cy="778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06"/>
              </a:lnSpc>
              <a:buNone/>
            </a:pPr>
            <a:r>
              <a:rPr lang="en-US" sz="5400" b="1" spc="-119" kern="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who's nearby. Talk. Then walk over.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90562" y="2655265"/>
            <a:ext cx="8292947" cy="5905871"/>
          </a:xfrm>
          <a:prstGeom prst="roundRect">
            <a:avLst>
              <a:gd name="adj" fmla="val 323"/>
            </a:avLst>
          </a:prstGeom>
          <a:ln w="869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10499" r="10499" t="0" b="0"/>
          <a:stretch/>
        </p:blipFill>
        <p:spPr>
          <a:xfrm>
            <a:off x="999257" y="2663960"/>
            <a:ext cx="8275557" cy="58884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0562" y="8732457"/>
            <a:ext cx="8541736" cy="678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0"/>
              </a:lnSpc>
              <a:buNone/>
            </a:pPr>
            <a:r>
              <a:rPr lang="en-US" sz="180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product — street level in 3D Itaewon. The characters are people who are actually there.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892980" y="5088805"/>
            <a:ext cx="7404417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9892980" y="3541621"/>
            <a:ext cx="8144859" cy="411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app, see who's around.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9892980" y="4029769"/>
            <a:ext cx="7626550" cy="81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072"/>
              </a:lnSpc>
              <a:buNone/>
            </a:pPr>
            <a:r>
              <a:rPr lang="en-US" sz="2100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nearby appears as an anonymous character in a 3D twin of the district.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9892980" y="6930398"/>
            <a:ext cx="7404417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9892980" y="5383215"/>
            <a:ext cx="8144859" cy="411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Zone-level, never precise.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9892980" y="5871363"/>
            <a:ext cx="7626550" cy="81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072"/>
              </a:lnSpc>
              <a:buNone/>
            </a:pPr>
            <a:r>
              <a:rPr lang="en-US" sz="2100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snaps to a named zone ("by the crossing"), never GPS coordinates. Visibility is opt-in and one tap to kill.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892980" y="7224809"/>
            <a:ext cx="8144859" cy="411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before you meet.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9892980" y="7712957"/>
            <a:ext cx="7626550" cy="81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072"/>
              </a:lnSpc>
              <a:buNone/>
            </a:pPr>
            <a:r>
              <a:rPr lang="en-US" sz="2100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feed and 1-to-1 chat mean the first face-to-face moment is a continuation, not a cold open.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90562" y="9610390"/>
            <a:ext cx="92207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6958968" y="9610390"/>
            <a:ext cx="414629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62" y="838126"/>
            <a:ext cx="1793752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62" y="1419474"/>
            <a:ext cx="16796041" cy="1519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06"/>
              </a:lnSpc>
              <a:buNone/>
            </a:pPr>
            <a:r>
              <a:rPr lang="en-US" sz="5400" b="1" spc="-119" kern="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Borrowed party-game mechanics, played in the real world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90562" y="3472060"/>
            <a:ext cx="5181598" cy="5900573"/>
          </a:xfrm>
          <a:prstGeom prst="rect">
            <a:avLst/>
          </a:prstGeom>
          <a:solidFill>
            <a:srgbClr val="101725"/>
          </a:solidFill>
          <a:ln/>
        </p:spPr>
      </p:sp>
      <p:sp>
        <p:nvSpPr>
          <p:cNvPr id="5" name="Shape 3"/>
          <p:cNvSpPr/>
          <p:nvPr/>
        </p:nvSpPr>
        <p:spPr>
          <a:xfrm>
            <a:off x="990562" y="3472060"/>
            <a:ext cx="5181598" cy="2608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33339" y="3860079"/>
            <a:ext cx="4945648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7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3339" y="4365209"/>
            <a:ext cx="4945648" cy="47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67"/>
              </a:lnSpc>
              <a:buNone/>
            </a:pPr>
            <a:r>
              <a:rPr lang="en-US" sz="28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Party, but in real life.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333339" y="4989898"/>
            <a:ext cx="4630925" cy="2352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87"/>
              </a:lnSpc>
              <a:buNone/>
            </a:pPr>
            <a:r>
              <a:rPr lang="en-US" sz="202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GPS-triggered missions strangers complete together — two-person tasks that only fire when you're both standing in the same place. The quest is the icebreaker; nobody has to invent an opening line.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6553113" y="3472060"/>
            <a:ext cx="5181733" cy="5900573"/>
          </a:xfrm>
          <a:prstGeom prst="rect">
            <a:avLst/>
          </a:prstGeom>
          <a:solidFill>
            <a:srgbClr val="101725"/>
          </a:solidFill>
          <a:ln/>
        </p:spPr>
      </p:sp>
      <p:sp>
        <p:nvSpPr>
          <p:cNvPr id="10" name="Shape 8"/>
          <p:cNvSpPr/>
          <p:nvPr/>
        </p:nvSpPr>
        <p:spPr>
          <a:xfrm>
            <a:off x="6553113" y="3472060"/>
            <a:ext cx="5181733" cy="2608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95890" y="3860079"/>
            <a:ext cx="4945797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7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LOBBIES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95890" y="4365209"/>
            <a:ext cx="4945797" cy="47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67"/>
              </a:lnSpc>
              <a:buNone/>
            </a:pPr>
            <a:r>
              <a:rPr lang="en-US" sz="28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Jackbox, but in real life.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895890" y="4989898"/>
            <a:ext cx="4631065" cy="2352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87"/>
              </a:lnSpc>
              <a:buNone/>
            </a:pPr>
            <a:r>
              <a:rPr lang="en-US" sz="202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Themed 2D rooms tied to real venues. A group gathers in the lobby, a randomized minigame reveals itself, and the shared-room energy of a party game plays out — except the room is an actual bar or bookstore.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2115800" y="3472060"/>
            <a:ext cx="5181598" cy="5900573"/>
          </a:xfrm>
          <a:prstGeom prst="rect">
            <a:avLst/>
          </a:prstGeom>
          <a:solidFill>
            <a:srgbClr val="101725"/>
          </a:solidFill>
          <a:ln/>
        </p:spPr>
      </p:sp>
      <p:sp>
        <p:nvSpPr>
          <p:cNvPr id="15" name="Shape 13"/>
          <p:cNvSpPr/>
          <p:nvPr/>
        </p:nvSpPr>
        <p:spPr>
          <a:xfrm>
            <a:off x="12115800" y="3472060"/>
            <a:ext cx="5181598" cy="2608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2458577" y="3860079"/>
            <a:ext cx="4945648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7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 FIRST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458577" y="4365209"/>
            <a:ext cx="4630925" cy="906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67"/>
              </a:lnSpc>
              <a:buNone/>
            </a:pPr>
            <a:r>
              <a:rPr lang="en-US" sz="28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intros, not cold approaches.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2458577" y="5424109"/>
            <a:ext cx="4630925" cy="196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87"/>
              </a:lnSpc>
              <a:buNone/>
            </a:pPr>
            <a:r>
              <a:rPr lang="en-US" sz="202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chat runs before, during, and after. You've already exchanged messages with the person across the room — walking over is step two, not step one.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990562" y="9610390"/>
            <a:ext cx="92207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958968" y="9610390"/>
            <a:ext cx="414629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22025" r="22025" t="0" b="0"/>
          <a:stretch/>
        </p:blipFill>
        <p:spPr>
          <a:xfrm>
            <a:off x="8046767" y="0"/>
            <a:ext cx="10241192" cy="1028697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92" y="0"/>
            <a:ext cx="10972666" cy="10286977"/>
          </a:xfrm>
          <a:prstGeom prst="rect">
            <a:avLst/>
          </a:prstGeom>
          <a:gradFill rotWithShape="1">
            <a:gsLst>
              <a:gs pos="0">
                <a:srgbClr val="0D1220">
                  <a:alpha val="100000"/>
                </a:srgbClr>
              </a:gs>
              <a:gs pos="16000">
                <a:srgbClr val="0D1220">
                  <a:alpha val="86000"/>
                </a:srgbClr>
              </a:gs>
              <a:gs pos="52000">
                <a:srgbClr val="0D1220">
                  <a:alpha val="12000"/>
                </a:srgbClr>
              </a:gs>
              <a:gs pos="100000">
                <a:srgbClr val="0D1220">
                  <a:alpha val="3500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990562" y="838126"/>
            <a:ext cx="9429654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WORLD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90562" y="1419474"/>
            <a:ext cx="8829585" cy="1420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987"/>
              </a:lnSpc>
              <a:buNone/>
            </a:pPr>
            <a:r>
              <a:rPr lang="en-US" sz="4950" b="1" spc="-109" kern="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twin of the district — not a map with pins</a:t>
            </a:r>
            <a:endParaRPr lang="en-US" sz="4950" dirty="0"/>
          </a:p>
        </p:txBody>
      </p:sp>
      <p:sp>
        <p:nvSpPr>
          <p:cNvPr id="6" name="Shape 3"/>
          <p:cNvSpPr/>
          <p:nvPr/>
        </p:nvSpPr>
        <p:spPr>
          <a:xfrm>
            <a:off x="990562" y="4297279"/>
            <a:ext cx="8572413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90562" y="3240282"/>
            <a:ext cx="8829585" cy="8475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96"/>
              </a:lnSpc>
              <a:buNone/>
            </a:pPr>
            <a:r>
              <a:rPr lang="en-US" sz="2175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4,471 real buildings </a:t>
            </a:r>
            <a:pPr algn="l" indent="0" marL="0">
              <a:lnSpc>
                <a:spcPct val="124496"/>
              </a:lnSpc>
              <a:buNone/>
            </a:pPr>
            <a:r>
              <a:rPr lang="en-US" sz="21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Korean government building registry — true footprints, floor counts, and heights, not procedural filler.</a:t>
            </a:r>
            <a:endParaRPr lang="en-US" sz="2175" dirty="0"/>
          </a:p>
        </p:txBody>
      </p:sp>
      <p:sp>
        <p:nvSpPr>
          <p:cNvPr id="8" name="Shape 5"/>
          <p:cNvSpPr/>
          <p:nvPr/>
        </p:nvSpPr>
        <p:spPr>
          <a:xfrm>
            <a:off x="990562" y="5610510"/>
            <a:ext cx="8572413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90562" y="4553513"/>
            <a:ext cx="8829585" cy="8475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96"/>
              </a:lnSpc>
              <a:buNone/>
            </a:pPr>
            <a:r>
              <a:rPr lang="en-US" sz="2175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venues &amp; districts </a:t>
            </a:r>
            <a:pPr algn="l" indent="0" marL="0">
              <a:lnSpc>
                <a:spcPct val="124496"/>
              </a:lnSpc>
              <a:buNone/>
            </a:pPr>
            <a:r>
              <a:rPr lang="en-US" sz="21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day/night cycle matched to Seoul time.</a:t>
            </a:r>
            <a:endParaRPr lang="en-US" sz="2175" dirty="0"/>
          </a:p>
        </p:txBody>
      </p:sp>
      <p:sp>
        <p:nvSpPr>
          <p:cNvPr id="10" name="Shape 7"/>
          <p:cNvSpPr/>
          <p:nvPr/>
        </p:nvSpPr>
        <p:spPr>
          <a:xfrm>
            <a:off x="990562" y="6923741"/>
            <a:ext cx="8572413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990562" y="5866744"/>
            <a:ext cx="8829585" cy="8475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96"/>
              </a:lnSpc>
              <a:buNone/>
            </a:pPr>
            <a:r>
              <a:rPr lang="en-US" sz="2175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 NPCs — Chill, Chaos, Sporty </a:t>
            </a:r>
            <a:pPr algn="l" indent="0" marL="0">
              <a:lnSpc>
                <a:spcPct val="124496"/>
              </a:lnSpc>
              <a:buNone/>
            </a:pPr>
            <a:r>
              <a:rPr lang="en-US" sz="21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keep streets alive between users; more archetypes planned.</a:t>
            </a:r>
            <a:endParaRPr lang="en-US" sz="2175" dirty="0"/>
          </a:p>
        </p:txBody>
      </p:sp>
      <p:sp>
        <p:nvSpPr>
          <p:cNvPr id="12" name="Text 9"/>
          <p:cNvSpPr/>
          <p:nvPr/>
        </p:nvSpPr>
        <p:spPr>
          <a:xfrm>
            <a:off x="990562" y="7179975"/>
            <a:ext cx="8829585" cy="8475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96"/>
              </a:lnSpc>
              <a:buNone/>
            </a:pPr>
            <a:r>
              <a:rPr lang="en-US" sz="2175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Venue-special quests </a:t>
            </a:r>
            <a:pPr algn="l" indent="0" marL="0">
              <a:lnSpc>
                <a:spcPct val="124496"/>
              </a:lnSpc>
              <a:buNone/>
            </a:pPr>
            <a:r>
              <a:rPr lang="en-US" sz="21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real bar hands out a QR code as proof you finished its quest. The world is built to keep absorbing the real city.</a:t>
            </a:r>
            <a:endParaRPr lang="en-US" sz="2175" dirty="0"/>
          </a:p>
        </p:txBody>
      </p:sp>
      <p:sp>
        <p:nvSpPr>
          <p:cNvPr id="13" name="Shape 10"/>
          <p:cNvSpPr/>
          <p:nvPr/>
        </p:nvSpPr>
        <p:spPr>
          <a:xfrm>
            <a:off x="10756376" y="8149750"/>
            <a:ext cx="6541021" cy="1299102"/>
          </a:xfrm>
          <a:prstGeom prst="rect">
            <a:avLst/>
          </a:prstGeom>
          <a:solidFill>
            <a:srgbClr val="0A0E19">
              <a:alpha val="78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0756376" y="8149750"/>
            <a:ext cx="26085" cy="1299102"/>
          </a:xfrm>
          <a:prstGeom prst="rect">
            <a:avLst/>
          </a:prstGeom>
          <a:solidFill>
            <a:srgbClr val="F5B34A">
              <a:alpha val="5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0992011" y="8302150"/>
            <a:ext cx="6292066" cy="1032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072"/>
              </a:lnSpc>
              <a:buNone/>
            </a:pPr>
            <a:r>
              <a:rPr lang="en-US" sz="1800" dirty="0">
                <a:solidFill>
                  <a:srgbClr val="F2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live world from above: Itaewon-ro and its alley network, rendered from government registry data.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90562" y="9610390"/>
            <a:ext cx="92207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958968" y="9610390"/>
            <a:ext cx="414629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62" y="838126"/>
            <a:ext cx="1793752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62" y="1400454"/>
            <a:ext cx="17937520" cy="729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987"/>
              </a:lnSpc>
              <a:buNone/>
            </a:pPr>
            <a:r>
              <a:rPr lang="en-US" sz="4950" b="1" spc="-109" kern="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you own: one base character, endless variants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90562" y="2339388"/>
            <a:ext cx="14716022" cy="838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96"/>
              </a:lnSpc>
              <a:buNone/>
            </a:pPr>
            <a:r>
              <a:rPr lang="en-US" sz="21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customization catalog is generated and already converted to rigged 3D: one skeleton, swappable hair / tops / bottoms / shoes, with color handled as material tints. All of it runs in the deployed app's engine.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90562" y="3559147"/>
            <a:ext cx="8151380" cy="5021010"/>
          </a:xfrm>
          <a:prstGeom prst="roundRect">
            <a:avLst>
              <a:gd name="adj" fmla="val 379"/>
            </a:avLst>
          </a:prstGeom>
          <a:solidFill>
            <a:srgbClr val="8B8B8B"/>
          </a:solidFill>
          <a:ln w="869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6882" b="-56882"/>
          <a:stretch/>
        </p:blipFill>
        <p:spPr>
          <a:xfrm>
            <a:off x="999257" y="3567842"/>
            <a:ext cx="8133990" cy="5003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0562" y="8732457"/>
            <a:ext cx="8395921" cy="678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0"/>
              </a:lnSpc>
              <a:buNone/>
            </a:pPr>
            <a:r>
              <a:rPr lang="en-US" sz="180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Skin tones and hair colors — texture swaps on shared base meshes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446677" y="3559147"/>
            <a:ext cx="4657990" cy="5021010"/>
          </a:xfrm>
          <a:prstGeom prst="roundRect">
            <a:avLst>
              <a:gd name="adj" fmla="val 409"/>
            </a:avLst>
          </a:prstGeom>
          <a:solidFill>
            <a:srgbClr val="8B8B8B"/>
          </a:solidFill>
          <a:ln w="869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54079" b="-54079"/>
          <a:stretch/>
        </p:blipFill>
        <p:spPr>
          <a:xfrm>
            <a:off x="9455372" y="3567842"/>
            <a:ext cx="4640600" cy="50036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446677" y="8732457"/>
            <a:ext cx="4797729" cy="678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0"/>
              </a:lnSpc>
              <a:buNone/>
            </a:pPr>
            <a:r>
              <a:rPr lang="en-US" sz="180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Wardrobe: 10 bottoms, 6 shoes, tops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4409403" y="3559147"/>
            <a:ext cx="2887994" cy="4700922"/>
          </a:xfrm>
          <a:prstGeom prst="roundRect">
            <a:avLst>
              <a:gd name="adj" fmla="val 660"/>
            </a:avLst>
          </a:prstGeom>
          <a:solidFill>
            <a:srgbClr val="101725"/>
          </a:solidFill>
          <a:ln w="869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31577" b="-31577"/>
          <a:stretch/>
        </p:blipFill>
        <p:spPr>
          <a:xfrm>
            <a:off x="14418098" y="3567842"/>
            <a:ext cx="2870604" cy="46835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409403" y="8412368"/>
            <a:ext cx="2974634" cy="998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0"/>
              </a:lnSpc>
              <a:buNone/>
            </a:pPr>
            <a:r>
              <a:rPr lang="en-US" sz="180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Auto-rigged 3D conversion (34-joint skeleton)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990562" y="9610390"/>
            <a:ext cx="92207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958968" y="9610390"/>
            <a:ext cx="414629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62" y="838126"/>
            <a:ext cx="1793752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VALIDATION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62" y="1419474"/>
            <a:ext cx="17937520" cy="778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06"/>
              </a:lnSpc>
              <a:buNone/>
            </a:pPr>
            <a:r>
              <a:rPr lang="en-US" sz="5400" b="1" spc="-119" kern="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piece of this behavior already exists at scale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90562" y="2731483"/>
            <a:ext cx="5181598" cy="6641150"/>
          </a:xfrm>
          <a:prstGeom prst="rect">
            <a:avLst/>
          </a:prstGeom>
          <a:solidFill>
            <a:srgbClr val="101725"/>
          </a:solidFill>
          <a:ln/>
        </p:spPr>
      </p:sp>
      <p:sp>
        <p:nvSpPr>
          <p:cNvPr id="5" name="Shape 3"/>
          <p:cNvSpPr/>
          <p:nvPr/>
        </p:nvSpPr>
        <p:spPr>
          <a:xfrm>
            <a:off x="990562" y="2731483"/>
            <a:ext cx="5181598" cy="2608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33339" y="3119501"/>
            <a:ext cx="4945648" cy="35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0"/>
              </a:lnSpc>
              <a:buNone/>
            </a:pPr>
            <a:r>
              <a:rPr lang="en-US" sz="1800" spc="288" kern="0" dirty="0">
                <a:solidFill>
                  <a:srgbClr val="7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LAYERS WORK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3339" y="3687128"/>
            <a:ext cx="4630925" cy="2837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53"/>
              </a:lnSpc>
              <a:buNone/>
            </a:pPr>
            <a:r>
              <a:rPr lang="en-US" sz="2100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Pokémon GO proved hundreds of millions of people will walk city streets directed by a game layer — and that venues will pay to be part of it (sponsored PokéStops). Rando keeps the layer and makes the other players the point.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53113" y="2731483"/>
            <a:ext cx="5181733" cy="6641150"/>
          </a:xfrm>
          <a:prstGeom prst="rect">
            <a:avLst/>
          </a:prstGeom>
          <a:solidFill>
            <a:srgbClr val="101725"/>
          </a:solidFill>
          <a:ln/>
        </p:spPr>
      </p:sp>
      <p:sp>
        <p:nvSpPr>
          <p:cNvPr id="9" name="Shape 7"/>
          <p:cNvSpPr/>
          <p:nvPr/>
        </p:nvSpPr>
        <p:spPr>
          <a:xfrm>
            <a:off x="6553113" y="2731483"/>
            <a:ext cx="5181733" cy="2608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95890" y="3119501"/>
            <a:ext cx="4631065" cy="678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0"/>
              </a:lnSpc>
              <a:buNone/>
            </a:pPr>
            <a:r>
              <a:rPr lang="en-US" sz="1800" spc="288" kern="0" dirty="0">
                <a:solidFill>
                  <a:srgbClr val="7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PEOPLE PAY TO MEET STRANGERS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95890" y="4007216"/>
            <a:ext cx="4631065" cy="2837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53"/>
              </a:lnSpc>
              <a:buNone/>
            </a:pPr>
            <a:r>
              <a:rPr lang="en-US" sz="2100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Stranger-dinner apps (Timeleft), Bumble BFF, running crews — a fast-growing category of products whose only job is introducing strangers offline. Demand is proven; they all schedule it days ahead. Rando does it live, where you already are.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115800" y="2731483"/>
            <a:ext cx="5181598" cy="6641150"/>
          </a:xfrm>
          <a:prstGeom prst="rect">
            <a:avLst/>
          </a:prstGeom>
          <a:solidFill>
            <a:srgbClr val="101725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15800" y="2731483"/>
            <a:ext cx="5181598" cy="2608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2458577" y="3119501"/>
            <a:ext cx="4630925" cy="678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0"/>
              </a:lnSpc>
              <a:buNone/>
            </a:pPr>
            <a:r>
              <a:rPr lang="en-US" sz="1800" spc="288" kern="0" dirty="0">
                <a:solidFill>
                  <a:srgbClr val="7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 IS INSTITUTIONAL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458577" y="4007216"/>
            <a:ext cx="4630925" cy="2437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53"/>
              </a:lnSpc>
              <a:buNone/>
            </a:pPr>
            <a:r>
              <a:rPr lang="en-US" sz="2100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 is now policy: the US Surgeon General's 2023 advisory, loneliness ministers in the UK and Japan. The gap between connectivity and connection is the defining social problem of this decade.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90562" y="9610390"/>
            <a:ext cx="92207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58968" y="9610390"/>
            <a:ext cx="414629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62" y="838126"/>
            <a:ext cx="1793752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MODEL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62" y="1419474"/>
            <a:ext cx="17937520" cy="886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94"/>
              </a:lnSpc>
              <a:buNone/>
            </a:pPr>
            <a:r>
              <a:rPr lang="en-US" sz="6300" b="1" spc="-176" kern="0" dirty="0">
                <a:solidFill>
                  <a:srgbClr val="F5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Venues pay for verified foot traffic.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90562" y="2800908"/>
            <a:ext cx="5699757" cy="411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quests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90562" y="3327097"/>
            <a:ext cx="5337046" cy="196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87"/>
              </a:lnSpc>
              <a:buNone/>
            </a:pPr>
            <a:r>
              <a:rPr lang="en-US" sz="202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bar buys a quest slot; completing it requires being physically inside and scanning the venue's QR code. The venue pays for provable bodies in the room — not impressions.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6553113" y="2800908"/>
            <a:ext cx="5699906" cy="411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priority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553113" y="3327097"/>
            <a:ext cx="5337185" cy="1580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87"/>
              </a:lnSpc>
              <a:buNone/>
            </a:pPr>
            <a:r>
              <a:rPr lang="en-US" sz="202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Venues pay for placement in a district's quest rotation and labeled presence in the 3D world (their building, their name, their glow).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2115800" y="2800908"/>
            <a:ext cx="5699757" cy="411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Cosmetics, later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115800" y="3327097"/>
            <a:ext cx="5337046" cy="1580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87"/>
              </a:lnSpc>
              <a:buNone/>
            </a:pPr>
            <a:r>
              <a:rPr lang="en-US" sz="202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character system is the consumer monetization surface — outfits and archetype skins — switched on once density is proven, never before.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90562" y="7386483"/>
            <a:ext cx="16306836" cy="1986150"/>
          </a:xfrm>
          <a:prstGeom prst="rect">
            <a:avLst/>
          </a:prstGeom>
          <a:solidFill>
            <a:srgbClr val="101725"/>
          </a:solidFill>
          <a:ln/>
        </p:spPr>
      </p:sp>
      <p:sp>
        <p:nvSpPr>
          <p:cNvPr id="11" name="Shape 9"/>
          <p:cNvSpPr/>
          <p:nvPr/>
        </p:nvSpPr>
        <p:spPr>
          <a:xfrm>
            <a:off x="990562" y="7386483"/>
            <a:ext cx="16306836" cy="26085"/>
          </a:xfrm>
          <a:prstGeom prst="rect">
            <a:avLst/>
          </a:prstGeom>
          <a:solidFill>
            <a:srgbClr val="F5B34A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314318" y="7698284"/>
            <a:ext cx="17225256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UNIT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14318" y="8172302"/>
            <a:ext cx="2234368" cy="420625"/>
          </a:xfrm>
          <a:prstGeom prst="roundRect">
            <a:avLst>
              <a:gd name="adj" fmla="val 4529"/>
            </a:avLst>
          </a:prstGeom>
          <a:solidFill>
            <a:srgbClr val="F5B34A">
              <a:alpha val="10000"/>
            </a:srgbClr>
          </a:solidFill>
          <a:ln w="8695">
            <a:solidFill>
              <a:srgbClr val="F5B34A">
                <a:alpha val="55000"/>
              </a:srgbClr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437313" y="8200047"/>
            <a:ext cx="2211814" cy="403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91"/>
              </a:lnSpc>
              <a:buNone/>
            </a:pPr>
            <a:r>
              <a:rPr lang="en-US" sz="2175" dirty="0">
                <a:solidFill>
                  <a:srgbClr val="F5B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# venues ]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3613899" y="8200018"/>
            <a:ext cx="1803227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75"/>
              </a:lnSpc>
              <a:buNone/>
            </a:pPr>
            <a:r>
              <a:rPr lang="en-US" sz="21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district ×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5253196" y="8172302"/>
            <a:ext cx="2068617" cy="420625"/>
          </a:xfrm>
          <a:prstGeom prst="roundRect">
            <a:avLst>
              <a:gd name="adj" fmla="val 4529"/>
            </a:avLst>
          </a:prstGeom>
          <a:solidFill>
            <a:srgbClr val="F5B34A">
              <a:alpha val="10000"/>
            </a:srgbClr>
          </a:solidFill>
          <a:ln w="8695">
            <a:solidFill>
              <a:srgbClr val="F5B34A">
                <a:alpha val="55000"/>
              </a:srgbClr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376191" y="8200047"/>
            <a:ext cx="2029489" cy="403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91"/>
              </a:lnSpc>
              <a:buNone/>
            </a:pPr>
            <a:r>
              <a:rPr lang="en-US" sz="2175" dirty="0">
                <a:solidFill>
                  <a:srgbClr val="F5B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₩/month ]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7387027" y="8200018"/>
            <a:ext cx="1994668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75"/>
              </a:lnSpc>
              <a:buNone/>
            </a:pPr>
            <a:r>
              <a:rPr lang="en-US" sz="21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 =</a:t>
            </a:r>
            <a:endParaRPr lang="en-US" sz="2175" dirty="0"/>
          </a:p>
        </p:txBody>
      </p:sp>
      <p:sp>
        <p:nvSpPr>
          <p:cNvPr id="19" name="Shape 17"/>
          <p:cNvSpPr/>
          <p:nvPr/>
        </p:nvSpPr>
        <p:spPr>
          <a:xfrm>
            <a:off x="9200362" y="8172302"/>
            <a:ext cx="3559826" cy="420625"/>
          </a:xfrm>
          <a:prstGeom prst="roundRect">
            <a:avLst>
              <a:gd name="adj" fmla="val 4529"/>
            </a:avLst>
          </a:prstGeom>
          <a:solidFill>
            <a:srgbClr val="F5B34A">
              <a:alpha val="10000"/>
            </a:srgbClr>
          </a:solidFill>
          <a:ln w="8695">
            <a:solidFill>
              <a:srgbClr val="F5B34A">
                <a:alpha val="55000"/>
              </a:srgbClr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323357" y="8200047"/>
            <a:ext cx="3669819" cy="403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91"/>
              </a:lnSpc>
              <a:buNone/>
            </a:pPr>
            <a:r>
              <a:rPr lang="en-US" sz="2175" dirty="0">
                <a:solidFill>
                  <a:srgbClr val="F5B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₩ district-month ]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1314318" y="8200018"/>
            <a:ext cx="15615395" cy="845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75"/>
              </a:lnSpc>
              <a:buNone/>
            </a:pPr>
            <a:r>
              <a:rPr lang="en-US" sz="21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priced against what venues already spend on promoters and portal ads.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990562" y="9610390"/>
            <a:ext cx="92207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58968" y="9610390"/>
            <a:ext cx="414629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62" y="761908"/>
            <a:ext cx="1793752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TRACTION — FIRST FIELD TEST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62" y="1305079"/>
            <a:ext cx="17937520" cy="73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646"/>
              </a:lnSpc>
              <a:buNone/>
            </a:pPr>
            <a:r>
              <a:rPr lang="en-US" sz="5100" b="1" spc="-112" kern="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strangers, one night, zero prompting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562" y="2404466"/>
            <a:ext cx="6807308" cy="1464308"/>
          </a:xfrm>
          <a:prstGeom prst="rect">
            <a:avLst/>
          </a:prstGeom>
          <a:solidFill>
            <a:srgbClr val="101725"/>
          </a:solidFill>
          <a:ln/>
        </p:spPr>
      </p:sp>
      <p:sp>
        <p:nvSpPr>
          <p:cNvPr id="5" name="Shape 3"/>
          <p:cNvSpPr/>
          <p:nvPr/>
        </p:nvSpPr>
        <p:spPr>
          <a:xfrm>
            <a:off x="990562" y="2404466"/>
            <a:ext cx="26085" cy="146430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83342" y="2632983"/>
            <a:ext cx="6872616" cy="609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36"/>
              </a:lnSpc>
              <a:buNone/>
            </a:pPr>
            <a:r>
              <a:rPr lang="en-US" sz="4500" b="1" spc="-90" kern="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283342" y="3299789"/>
            <a:ext cx="6872616" cy="359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35"/>
              </a:lnSpc>
              <a:buNone/>
            </a:pPr>
            <a:r>
              <a:rPr lang="en-US" sz="18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strangers live in Itaewon in one night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90562" y="4059251"/>
            <a:ext cx="6807308" cy="1464308"/>
          </a:xfrm>
          <a:prstGeom prst="rect">
            <a:avLst/>
          </a:prstGeom>
          <a:solidFill>
            <a:srgbClr val="101725"/>
          </a:solidFill>
          <a:ln/>
        </p:spPr>
      </p:sp>
      <p:sp>
        <p:nvSpPr>
          <p:cNvPr id="9" name="Shape 7"/>
          <p:cNvSpPr/>
          <p:nvPr/>
        </p:nvSpPr>
        <p:spPr>
          <a:xfrm>
            <a:off x="990562" y="4059251"/>
            <a:ext cx="26085" cy="146430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283342" y="4287769"/>
            <a:ext cx="6872616" cy="609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36"/>
              </a:lnSpc>
              <a:buNone/>
            </a:pPr>
            <a:r>
              <a:rPr lang="en-US" sz="4500" b="1" spc="-90" kern="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283342" y="4954574"/>
            <a:ext cx="6872616" cy="359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35"/>
              </a:lnSpc>
              <a:buNone/>
            </a:pPr>
            <a:r>
              <a:rPr lang="en-US" sz="18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produced organic public chat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90562" y="5714036"/>
            <a:ext cx="6807308" cy="1464308"/>
          </a:xfrm>
          <a:prstGeom prst="rect">
            <a:avLst/>
          </a:prstGeom>
          <a:solidFill>
            <a:srgbClr val="101725"/>
          </a:solidFill>
          <a:ln/>
        </p:spPr>
      </p:sp>
      <p:sp>
        <p:nvSpPr>
          <p:cNvPr id="13" name="Shape 11"/>
          <p:cNvSpPr/>
          <p:nvPr/>
        </p:nvSpPr>
        <p:spPr>
          <a:xfrm>
            <a:off x="990562" y="5714036"/>
            <a:ext cx="26085" cy="146430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283342" y="5942554"/>
            <a:ext cx="6872616" cy="609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36"/>
              </a:lnSpc>
              <a:buNone/>
            </a:pPr>
            <a:r>
              <a:rPr lang="en-US" sz="4500" b="1" spc="-90" kern="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1283342" y="6609359"/>
            <a:ext cx="6872616" cy="359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35"/>
              </a:lnSpc>
              <a:buNone/>
            </a:pPr>
            <a:r>
              <a:rPr lang="en-US" sz="18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showed the app to friends unprompted, in person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8178824" y="2404466"/>
            <a:ext cx="9118574" cy="4773879"/>
          </a:xfrm>
          <a:prstGeom prst="rect">
            <a:avLst/>
          </a:prstGeom>
          <a:solidFill>
            <a:srgbClr val="101725"/>
          </a:solidFill>
          <a:ln/>
        </p:spPr>
      </p:sp>
      <p:sp>
        <p:nvSpPr>
          <p:cNvPr id="17" name="Text 15"/>
          <p:cNvSpPr/>
          <p:nvPr/>
        </p:nvSpPr>
        <p:spPr>
          <a:xfrm>
            <a:off x="8483560" y="2671161"/>
            <a:ext cx="9360012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FEED · ITAEWON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83560" y="3100073"/>
            <a:ext cx="9360012" cy="359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35"/>
              </a:lnSpc>
              <a:buNone/>
            </a:pPr>
            <a:r>
              <a:rPr lang="en-US" sz="1875" i="1" dirty="0">
                <a:solidFill>
                  <a:srgbClr val="6B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"sketching by the crossing, come say hi"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8483560" y="3554800"/>
            <a:ext cx="9360012" cy="372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6"/>
              </a:lnSpc>
              <a:buNone/>
            </a:pPr>
            <a:r>
              <a:rPr lang="en-US" sz="1950" dirty="0">
                <a:solidFill>
                  <a:srgbClr val="7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rando-b64b44 </a:t>
            </a:r>
            <a:pPr algn="l" indent="0" marL="0">
              <a:lnSpc>
                <a:spcPct val="116516"/>
              </a:lnSpc>
              <a:buNone/>
            </a:pPr>
            <a:r>
              <a:rPr lang="en-US" sz="19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real public message!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8483560" y="4022433"/>
            <a:ext cx="9360012" cy="372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6"/>
              </a:lnSpc>
              <a:buNone/>
            </a:pPr>
            <a:r>
              <a:rPr lang="en-US" sz="1950" dirty="0">
                <a:solidFill>
                  <a:srgbClr val="7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rando-9b9b3b </a:t>
            </a:r>
            <a:pPr algn="l" indent="0" marL="0">
              <a:lnSpc>
                <a:spcPct val="116516"/>
              </a:lnSpc>
              <a:buNone/>
            </a:pPr>
            <a:r>
              <a:rPr lang="en-US" sz="19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 from bogwang, can you hear me?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8483560" y="4490066"/>
            <a:ext cx="9360012" cy="372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6"/>
              </a:lnSpc>
              <a:buNone/>
            </a:pPr>
            <a:r>
              <a:rPr lang="en-US" sz="1950" dirty="0">
                <a:solidFill>
                  <a:srgbClr val="7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rando-c70313 </a:t>
            </a:r>
            <a:pPr algn="l" indent="0" marL="0">
              <a:lnSpc>
                <a:spcPct val="116516"/>
              </a:lnSpc>
              <a:buNone/>
            </a:pPr>
            <a:r>
              <a:rPr lang="en-US" sz="19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8483560" y="4957699"/>
            <a:ext cx="9360012" cy="372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6"/>
              </a:lnSpc>
              <a:buNone/>
            </a:pPr>
            <a:r>
              <a:rPr lang="en-US" sz="1950" dirty="0">
                <a:solidFill>
                  <a:srgbClr val="7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rando-3db7db </a:t>
            </a:r>
            <a:pPr algn="l" indent="0" marL="0">
              <a:lnSpc>
                <a:spcPct val="116516"/>
              </a:lnSpc>
              <a:buNone/>
            </a:pPr>
            <a:r>
              <a:rPr lang="en-US" sz="19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up mfs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483560" y="5425332"/>
            <a:ext cx="9360012" cy="372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6"/>
              </a:lnSpc>
              <a:buNone/>
            </a:pPr>
            <a:r>
              <a:rPr lang="en-US" sz="1950" dirty="0">
                <a:solidFill>
                  <a:srgbClr val="F5B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Emanuelkong </a:t>
            </a:r>
            <a:pPr algn="l" indent="0" marL="0">
              <a:lnSpc>
                <a:spcPct val="116516"/>
              </a:lnSpc>
              <a:buNone/>
            </a:pPr>
            <a:r>
              <a:rPr lang="en-US" sz="19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Yoooo hi guys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8483560" y="5892965"/>
            <a:ext cx="9360012" cy="372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6"/>
              </a:lnSpc>
              <a:buNone/>
            </a:pPr>
            <a:r>
              <a:rPr lang="en-US" sz="1950" dirty="0">
                <a:solidFill>
                  <a:srgbClr val="7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Malone </a:t>
            </a:r>
            <a:pPr algn="l" indent="0" marL="0">
              <a:lnSpc>
                <a:spcPct val="116516"/>
              </a:lnSpc>
              <a:buNone/>
            </a:pPr>
            <a:r>
              <a:rPr lang="en-US" sz="19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🤣🔥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8483560" y="6360598"/>
            <a:ext cx="9360012" cy="372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6"/>
              </a:lnSpc>
              <a:buNone/>
            </a:pPr>
            <a:r>
              <a:rPr lang="en-US" sz="1950" dirty="0">
                <a:solidFill>
                  <a:srgbClr val="7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WhiteMonkey </a:t>
            </a:r>
            <a:pPr algn="l" indent="0" marL="0">
              <a:lnSpc>
                <a:spcPct val="116516"/>
              </a:lnSpc>
              <a:buNone/>
            </a:pPr>
            <a:r>
              <a:rPr lang="en-US" sz="19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yoo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90562" y="7521122"/>
            <a:ext cx="17811685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F5B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HASN'T HAPPENED YET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90562" y="7950034"/>
            <a:ext cx="16678214" cy="838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53"/>
              </a:lnSpc>
              <a:buNone/>
            </a:pPr>
            <a:r>
              <a:rPr lang="en-US" sz="21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In-person meetups converting from the app. </a:t>
            </a:r>
            <a:pPr algn="l" indent="0" marL="0">
              <a:lnSpc>
                <a:spcPct val="131453"/>
              </a:lnSpc>
              <a:buNone/>
            </a:pPr>
            <a:r>
              <a:rPr lang="en-US" sz="2100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a density problem, not a demand problem — with a handful of users spread across a district, no two are reliably in the same zone at the same time. It's exactly the gap the Itaewon-only launch is designed to close.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90562" y="9629410"/>
            <a:ext cx="92207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958968" y="9629410"/>
            <a:ext cx="414629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62" y="838126"/>
            <a:ext cx="1793752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62" y="1400454"/>
            <a:ext cx="17937520" cy="73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646"/>
              </a:lnSpc>
              <a:buNone/>
            </a:pPr>
            <a:r>
              <a:rPr lang="en-US" sz="5100" b="1" spc="-112" kern="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else schedules it, screens it, or skips it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523951" y="8440899"/>
            <a:ext cx="6857984" cy="1739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523951" y="3090291"/>
            <a:ext cx="17390" cy="5367999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57231" y="2671161"/>
            <a:ext cx="3017483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Live · spontaneous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57231" y="8543610"/>
            <a:ext cx="1659608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Scheduled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23951" y="8943720"/>
            <a:ext cx="1948788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On a screen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10310" y="8943720"/>
            <a:ext cx="1948788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room 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28827" y="5610782"/>
            <a:ext cx="133280" cy="133280"/>
          </a:xfrm>
          <a:prstGeom prst="ellipse">
            <a:avLst/>
          </a:prstGeom>
          <a:solidFill>
            <a:srgbClr val="6B7590"/>
          </a:solidFill>
          <a:ln/>
        </p:spPr>
      </p:sp>
      <p:sp>
        <p:nvSpPr>
          <p:cNvPr id="11" name="Text 9"/>
          <p:cNvSpPr/>
          <p:nvPr/>
        </p:nvSpPr>
        <p:spPr>
          <a:xfrm>
            <a:off x="2146214" y="5839300"/>
            <a:ext cx="1498505" cy="35112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2554524" y="7221277"/>
            <a:ext cx="133280" cy="133280"/>
          </a:xfrm>
          <a:prstGeom prst="ellipse">
            <a:avLst/>
          </a:prstGeom>
          <a:solidFill>
            <a:srgbClr val="6B7590"/>
          </a:solidFill>
          <a:ln/>
        </p:spPr>
      </p:sp>
      <p:sp>
        <p:nvSpPr>
          <p:cNvPr id="13" name="Text 11"/>
          <p:cNvSpPr/>
          <p:nvPr/>
        </p:nvSpPr>
        <p:spPr>
          <a:xfrm>
            <a:off x="1924666" y="7449795"/>
            <a:ext cx="1392995" cy="35112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Dating apps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6532054" y="7435937"/>
            <a:ext cx="133280" cy="133280"/>
          </a:xfrm>
          <a:prstGeom prst="ellipse">
            <a:avLst/>
          </a:prstGeom>
          <a:solidFill>
            <a:srgbClr val="6B7590"/>
          </a:solidFill>
          <a:ln/>
        </p:spPr>
      </p:sp>
      <p:sp>
        <p:nvSpPr>
          <p:cNvPr id="15" name="Text 13"/>
          <p:cNvSpPr/>
          <p:nvPr/>
        </p:nvSpPr>
        <p:spPr>
          <a:xfrm>
            <a:off x="5558163" y="7664455"/>
            <a:ext cx="2081198" cy="35112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Meetup · Timeleft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4611865" y="4107753"/>
            <a:ext cx="133280" cy="133280"/>
          </a:xfrm>
          <a:prstGeom prst="ellipse">
            <a:avLst/>
          </a:prstGeom>
          <a:solidFill>
            <a:srgbClr val="6B7590"/>
          </a:solidFill>
          <a:ln/>
        </p:spPr>
      </p:sp>
      <p:sp>
        <p:nvSpPr>
          <p:cNvPr id="17" name="Text 15"/>
          <p:cNvSpPr/>
          <p:nvPr/>
        </p:nvSpPr>
        <p:spPr>
          <a:xfrm>
            <a:off x="3913112" y="4336271"/>
            <a:ext cx="1530785" cy="35112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Pokémon GO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7042620" y="3505958"/>
            <a:ext cx="209497" cy="209497"/>
          </a:xfrm>
          <a:prstGeom prst="ellipse">
            <a:avLst/>
          </a:prstGeom>
          <a:solidFill>
            <a:srgbClr val="F5B34A"/>
          </a:solidFill>
          <a:ln/>
          <a:effectLst>
            <a:outerShdw sx="100000" sy="100000" kx="0" ky="0" algn="bl" rotWithShape="0" blurRad="101600" dist="50800" dir="16200000">
              <a:srgbClr val="F5B34A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19483" y="3829714"/>
            <a:ext cx="855770" cy="38590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448580" y="3834673"/>
            <a:ext cx="3845880" cy="681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 playbook, not a waitlist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9448580" y="4592369"/>
            <a:ext cx="3845880" cy="1418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3"/>
              </a:lnSpc>
              <a:buNone/>
            </a:pPr>
            <a:r>
              <a:rPr lang="en-US" sz="18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district at a time with on-the-ground launch ops — the only strategy that survives the cold-start.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3563398" y="3834673"/>
            <a:ext cx="4107400" cy="359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world is a moat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13563398" y="4270650"/>
            <a:ext cx="3846020" cy="107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3"/>
              </a:lnSpc>
              <a:buNone/>
            </a:pPr>
            <a:r>
              <a:rPr lang="en-US" sz="18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Registry-data digital-twin pipeline rebuilds any city in days; competitors ship map pins.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9448580" y="6316035"/>
            <a:ext cx="4107250" cy="359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by architecture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9448580" y="6752013"/>
            <a:ext cx="3845880" cy="1418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3"/>
              </a:lnSpc>
              <a:buNone/>
            </a:pPr>
            <a:r>
              <a:rPr lang="en-US" sz="18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Zone-coarse presence, anonymous handles, identity-verification (본인인증) scaffold already built.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3563398" y="6316035"/>
            <a:ext cx="4107400" cy="359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In-house distribution</a:t>
            </a:r>
            <a:endParaRPr lang="en-US" sz="2175" dirty="0"/>
          </a:p>
        </p:txBody>
      </p:sp>
      <p:sp>
        <p:nvSpPr>
          <p:cNvPr id="27" name="Text 25"/>
          <p:cNvSpPr/>
          <p:nvPr/>
        </p:nvSpPr>
        <p:spPr>
          <a:xfrm>
            <a:off x="13563398" y="6752013"/>
            <a:ext cx="3846020" cy="1418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3"/>
              </a:lnSpc>
              <a:buNone/>
            </a:pPr>
            <a:r>
              <a:rPr lang="en-US" sz="18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founder who has grown audiences to 60k+ — launch content is a core competency, not a spend line.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990562" y="9610390"/>
            <a:ext cx="92207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958968" y="9610390"/>
            <a:ext cx="414629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62" y="838126"/>
            <a:ext cx="1793752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ADOPTION STRATEGY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62" y="1419474"/>
            <a:ext cx="17937520" cy="778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06"/>
              </a:lnSpc>
              <a:buNone/>
            </a:pPr>
            <a:r>
              <a:rPr lang="en-US" sz="5400" b="1" spc="-119" kern="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one district, then copy the playbook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90562" y="2731483"/>
            <a:ext cx="5181598" cy="6641150"/>
          </a:xfrm>
          <a:prstGeom prst="rect">
            <a:avLst/>
          </a:prstGeom>
          <a:solidFill>
            <a:srgbClr val="101725"/>
          </a:solidFill>
          <a:ln/>
        </p:spPr>
      </p:sp>
      <p:sp>
        <p:nvSpPr>
          <p:cNvPr id="5" name="Shape 3"/>
          <p:cNvSpPr/>
          <p:nvPr/>
        </p:nvSpPr>
        <p:spPr>
          <a:xfrm>
            <a:off x="990562" y="2731483"/>
            <a:ext cx="5181598" cy="2608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33339" y="3119501"/>
            <a:ext cx="4945648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5B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· NOW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3339" y="3624632"/>
            <a:ext cx="4945648" cy="47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67"/>
              </a:lnSpc>
              <a:buNone/>
            </a:pPr>
            <a:r>
              <a:rPr lang="en-US" sz="28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Itaewon only.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333339" y="4249320"/>
            <a:ext cx="4630925" cy="2352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87"/>
              </a:lnSpc>
              <a:buNone/>
            </a:pPr>
            <a:r>
              <a:rPr lang="en-US" sz="202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 every user in one nightlife district to hit real zone density. Weekly launch nights, venue-partner quests with QR proof, FXIENDS-style short-form content aimed at the district's actual crowd.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333339" y="6773071"/>
            <a:ext cx="4630925" cy="80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87"/>
              </a:lnSpc>
              <a:buNone/>
            </a:pPr>
            <a:r>
              <a:rPr lang="en-US" sz="2025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metric: strangers meeting in person from the app, every week.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6553113" y="2731483"/>
            <a:ext cx="5181733" cy="6641150"/>
          </a:xfrm>
          <a:prstGeom prst="rect">
            <a:avLst/>
          </a:prstGeom>
          <a:solidFill>
            <a:srgbClr val="101725"/>
          </a:solidFill>
          <a:ln/>
        </p:spPr>
      </p:sp>
      <p:sp>
        <p:nvSpPr>
          <p:cNvPr id="11" name="Shape 9"/>
          <p:cNvSpPr/>
          <p:nvPr/>
        </p:nvSpPr>
        <p:spPr>
          <a:xfrm>
            <a:off x="6553113" y="2731483"/>
            <a:ext cx="5181733" cy="2608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895890" y="3119501"/>
            <a:ext cx="4945797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95890" y="3624632"/>
            <a:ext cx="4945797" cy="47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67"/>
              </a:lnSpc>
              <a:buNone/>
            </a:pPr>
            <a:r>
              <a:rPr lang="en-US" sz="28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Seoul's districts.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6895890" y="4249320"/>
            <a:ext cx="4631065" cy="196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87"/>
              </a:lnSpc>
              <a:buNone/>
            </a:pPr>
            <a:r>
              <a:rPr lang="en-US" sz="202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district-by-district — Hongdae, Seongsu, Gangnam — each a contained density problem with its own venues and quest set. Same mechanics, new geography.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2115800" y="2731483"/>
            <a:ext cx="5181598" cy="6641150"/>
          </a:xfrm>
          <a:prstGeom prst="rect">
            <a:avLst/>
          </a:prstGeom>
          <a:solidFill>
            <a:srgbClr val="101725"/>
          </a:solidFill>
          <a:ln/>
        </p:spPr>
      </p:sp>
      <p:sp>
        <p:nvSpPr>
          <p:cNvPr id="16" name="Shape 14"/>
          <p:cNvSpPr/>
          <p:nvPr/>
        </p:nvSpPr>
        <p:spPr>
          <a:xfrm>
            <a:off x="12115800" y="2731483"/>
            <a:ext cx="5181598" cy="2608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458577" y="3119501"/>
            <a:ext cx="4945648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458577" y="3624632"/>
            <a:ext cx="4945648" cy="47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67"/>
              </a:lnSpc>
              <a:buNone/>
            </a:pPr>
            <a:r>
              <a:rPr lang="en-US" sz="28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city.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2458577" y="4249320"/>
            <a:ext cx="4630925" cy="2352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87"/>
              </a:lnSpc>
              <a:buNone/>
            </a:pPr>
            <a:r>
              <a:rPr lang="en-US" sz="202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 is already city-agnostic: the world builds from public building-registry and OSM data, and quests/lobbies are templated per venue. District playbook + local content partner = a new city launch.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990562" y="9610390"/>
            <a:ext cx="92207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58968" y="9610390"/>
            <a:ext cx="414629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62" y="838126"/>
            <a:ext cx="1793752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62" y="1419474"/>
            <a:ext cx="17937520" cy="778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06"/>
              </a:lnSpc>
              <a:buNone/>
            </a:pPr>
            <a:r>
              <a:rPr lang="en-US" sz="5400" b="1" spc="-119" kern="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brothers: distribution and product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90562" y="2769524"/>
            <a:ext cx="7924764" cy="6603110"/>
          </a:xfrm>
          <a:prstGeom prst="rect">
            <a:avLst/>
          </a:prstGeom>
          <a:solidFill>
            <a:srgbClr val="101725"/>
          </a:solidFill>
          <a:ln/>
        </p:spPr>
      </p:sp>
      <p:sp>
        <p:nvSpPr>
          <p:cNvPr id="5" name="Shape 3"/>
          <p:cNvSpPr/>
          <p:nvPr/>
        </p:nvSpPr>
        <p:spPr>
          <a:xfrm>
            <a:off x="990562" y="2769524"/>
            <a:ext cx="7924764" cy="2608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409556" y="3214604"/>
            <a:ext cx="7795452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7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CEO · GROWTH &amp; CONTENT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09556" y="3719735"/>
            <a:ext cx="7795452" cy="551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Emanuel Kong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409556" y="4480284"/>
            <a:ext cx="7299378" cy="87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89"/>
              </a:lnSpc>
              <a:buNone/>
            </a:pPr>
            <a:r>
              <a:rPr lang="en-US" sz="21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Kingmaker Marketing from zero to </a:t>
            </a:r>
            <a:pPr algn="l" indent="0" marL="0">
              <a:lnSpc>
                <a:spcPct val="128789"/>
              </a:lnSpc>
              <a:buNone/>
            </a:pPr>
            <a:r>
              <a:rPr lang="en-US" sz="2175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$7k+/month </a:t>
            </a:r>
            <a:pPr algn="l" indent="0" marL="0">
              <a:lnSpc>
                <a:spcPct val="128789"/>
              </a:lnSpc>
              <a:buNone/>
            </a:pPr>
            <a:r>
              <a:rPr lang="en-US" sz="21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10+ clients.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409556" y="5507935"/>
            <a:ext cx="7299378" cy="87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89"/>
              </a:lnSpc>
              <a:buNone/>
            </a:pPr>
            <a:r>
              <a:rPr lang="en-US" sz="21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FXIENDS to </a:t>
            </a:r>
            <a:pPr algn="l" indent="0" marL="0">
              <a:lnSpc>
                <a:spcPct val="128789"/>
              </a:lnSpc>
              <a:buNone/>
            </a:pPr>
            <a:r>
              <a:rPr lang="en-US" sz="2175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60k+ TikTok </a:t>
            </a:r>
            <a:pPr algn="l" indent="0" marL="0">
              <a:lnSpc>
                <a:spcPct val="128789"/>
              </a:lnSpc>
              <a:buNone/>
            </a:pPr>
            <a:r>
              <a:rPr lang="en-US" sz="21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28789"/>
              </a:lnSpc>
              <a:buNone/>
            </a:pPr>
            <a:r>
              <a:rPr lang="en-US" sz="2175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29k+ YouTube </a:t>
            </a:r>
            <a:pPr algn="l" indent="0" marL="0">
              <a:lnSpc>
                <a:spcPct val="128789"/>
              </a:lnSpc>
              <a:buNone/>
            </a:pPr>
            <a:r>
              <a:rPr lang="en-US" sz="21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followers — knows how to make a local scene show up.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9372498" y="2769524"/>
            <a:ext cx="7924900" cy="6603110"/>
          </a:xfrm>
          <a:prstGeom prst="rect">
            <a:avLst/>
          </a:prstGeom>
          <a:solidFill>
            <a:srgbClr val="101725"/>
          </a:solidFill>
          <a:ln/>
        </p:spPr>
      </p:sp>
      <p:sp>
        <p:nvSpPr>
          <p:cNvPr id="11" name="Shape 9"/>
          <p:cNvSpPr/>
          <p:nvPr/>
        </p:nvSpPr>
        <p:spPr>
          <a:xfrm>
            <a:off x="9372498" y="2769524"/>
            <a:ext cx="7924900" cy="2608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791492" y="3214604"/>
            <a:ext cx="7795601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7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CTO · ALL OF ENGINEERING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791492" y="3719735"/>
            <a:ext cx="7795601" cy="551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Kong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9791492" y="4480284"/>
            <a:ext cx="7299517" cy="1695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89"/>
              </a:lnSpc>
              <a:buNone/>
            </a:pPr>
            <a:r>
              <a:rPr lang="en-US" sz="217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Sole builder of everything in this deck: the 3D registry-twin engine, real-time presence and chat on Supabase, the safety/verification stack, and the generative character pipeline.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9791492" y="6327720"/>
            <a:ext cx="7795601" cy="452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89"/>
              </a:lnSpc>
              <a:buNone/>
            </a:pPr>
            <a:r>
              <a:rPr lang="en-US" sz="2175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 daily; the demo is deployed and live right now.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990562" y="9610390"/>
            <a:ext cx="92207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58968" y="9610390"/>
            <a:ext cx="414629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62" y="838126"/>
            <a:ext cx="1793752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62" y="1419474"/>
            <a:ext cx="16344863" cy="819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807"/>
              </a:lnSpc>
              <a:buNone/>
            </a:pPr>
            <a:r>
              <a:rPr lang="en-US" sz="5400" b="1" spc="-119" kern="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loop in one district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90562" y="4013602"/>
            <a:ext cx="16306836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562" y="3001302"/>
            <a:ext cx="3981416" cy="385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operations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026" y="3001302"/>
            <a:ext cx="12636423" cy="783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137"/>
              </a:lnSpc>
              <a:buNone/>
            </a:pPr>
            <a:r>
              <a:rPr lang="en-US" sz="202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Itaewon launch nights, venue partnerships, on-the-ground community seeding until zone density sustains itself.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90562" y="5301291"/>
            <a:ext cx="16306836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90562" y="4288992"/>
            <a:ext cx="3981416" cy="385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safety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026" y="4288992"/>
            <a:ext cx="12636423" cy="783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137"/>
              </a:lnSpc>
              <a:buNone/>
            </a:pPr>
            <a:r>
              <a:rPr lang="en-US" sz="202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Korean identity verification (본인인증) integration and moderation — the foundation is built; the provider contract needs funding.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90562" y="6216178"/>
            <a:ext cx="16306836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90562" y="5576681"/>
            <a:ext cx="3981416" cy="385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velocity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29026" y="5576681"/>
            <a:ext cx="12730041" cy="410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137"/>
              </a:lnSpc>
              <a:buNone/>
            </a:pPr>
            <a:r>
              <a:rPr lang="en-US" sz="2025" dirty="0">
                <a:solidFill>
                  <a:srgbClr val="AA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Quest/lobby content system, more archetypes, iOS/Android wrappers over the deployed web engine.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990562" y="6491568"/>
            <a:ext cx="3981416" cy="385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026" y="6491568"/>
            <a:ext cx="12907583" cy="410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137"/>
              </a:lnSpc>
              <a:buNone/>
            </a:pPr>
            <a:r>
              <a:rPr lang="en-US" sz="2025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stranger-to-stranger meetups every week in Itaewon — the number that unlocks district #2.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90562" y="9610390"/>
            <a:ext cx="92207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58968" y="9610390"/>
            <a:ext cx="414629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6000"/>
          </a:blip>
          <a:srcRect l="0" r="0" t="0" b="0"/>
          <a:stretch/>
        </p:blipFill>
        <p:spPr>
          <a:xfrm>
            <a:off x="0" y="0"/>
            <a:ext cx="18287959" cy="1028697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0D1220">
                  <a:alpha val="58000"/>
                </a:srgbClr>
              </a:gs>
              <a:gs pos="72000">
                <a:srgbClr val="0D1220">
                  <a:alpha val="9600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1"/>
          <p:cNvSpPr/>
          <p:nvPr/>
        </p:nvSpPr>
        <p:spPr>
          <a:xfrm>
            <a:off x="7069058" y="3207132"/>
            <a:ext cx="4149843" cy="1510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9864"/>
              </a:lnSpc>
              <a:buNone/>
            </a:pPr>
            <a:r>
              <a:rPr lang="en-US" sz="12600" b="1" spc="-504" kern="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</a:t>
            </a:r>
            <a:endParaRPr lang="en-US" sz="12600" dirty="0"/>
          </a:p>
        </p:txBody>
      </p:sp>
      <p:sp>
        <p:nvSpPr>
          <p:cNvPr id="5" name="Text 2"/>
          <p:cNvSpPr/>
          <p:nvPr/>
        </p:nvSpPr>
        <p:spPr>
          <a:xfrm>
            <a:off x="5994093" y="5021961"/>
            <a:ext cx="6299637" cy="690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spc="-90" kern="0" dirty="0">
                <a:solidFill>
                  <a:srgbClr val="F5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Proximity is permission.</a:t>
            </a:r>
            <a:endParaRPr lang="en-US" sz="4500" dirty="0"/>
          </a:p>
        </p:txBody>
      </p:sp>
      <p:sp>
        <p:nvSpPr>
          <p:cNvPr id="6" name="Shape 3"/>
          <p:cNvSpPr/>
          <p:nvPr/>
        </p:nvSpPr>
        <p:spPr>
          <a:xfrm>
            <a:off x="3489315" y="6169306"/>
            <a:ext cx="11309329" cy="605668"/>
          </a:xfrm>
          <a:prstGeom prst="roundRect">
            <a:avLst>
              <a:gd name="adj" fmla="val 3145"/>
            </a:avLst>
          </a:prstGeom>
          <a:solidFill>
            <a:srgbClr val="7FD4C1">
              <a:alpha val="12000"/>
            </a:srgbClr>
          </a:solidFill>
          <a:ln w="8695">
            <a:solidFill>
              <a:srgbClr val="7FD4C1">
                <a:alpha val="42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745548" y="6414942"/>
            <a:ext cx="114259" cy="114259"/>
          </a:xfrm>
          <a:prstGeom prst="ellipse">
            <a:avLst/>
          </a:prstGeom>
          <a:solidFill>
            <a:srgbClr val="7FD4C1"/>
          </a:solidFill>
          <a:ln/>
        </p:spPr>
      </p:sp>
      <p:sp>
        <p:nvSpPr>
          <p:cNvPr id="8" name="Text 5"/>
          <p:cNvSpPr/>
          <p:nvPr/>
        </p:nvSpPr>
        <p:spPr>
          <a:xfrm>
            <a:off x="3465620" y="6311280"/>
            <a:ext cx="11604257" cy="359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7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randoirl.vercel.app — open it tonight, someone might be by the crossing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-914398" y="9496131"/>
            <a:ext cx="20116755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252" kern="0" dirty="0">
                <a:solidFill>
                  <a:srgbClr val="6B7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Emanuel Kong · Tony Kong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2026-08-11T04:30:14Z</dcterms:created>
  <dcterms:modified xsi:type="dcterms:W3CDTF">2026-08-11T04:30:14Z</dcterms:modified>
</cp:coreProperties>
</file>